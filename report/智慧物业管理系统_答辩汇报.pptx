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3"/>
    <p:sldId id="257" r:id="rId4"/>
    <p:sldId id="258" r:id="rId5"/>
    <p:sldId id="259" r:id="rId6"/>
    <p:sldId id="260" r:id="rId7"/>
    <p:sldId id="261" r:id="rId8"/>
    <p:sldId id="274" r:id="rId9"/>
    <p:sldId id="262" r:id="rId10"/>
    <p:sldId id="263" r:id="rId11"/>
    <p:sldId id="265" r:id="rId12"/>
    <p:sldId id="267" r:id="rId13"/>
    <p:sldId id="271" r:id="rId14"/>
    <p:sldId id="272" r:id="rId15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514" y="1143000"/>
            <a:ext cx="54849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91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3566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3246120"/>
            <a:ext cx="67025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智慧物业管理系统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WisdomPM — Property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答辩汇报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 panose="020B0503020204020204" charset="-122"/>
              </a:defRPr>
            </a:pPr>
          </a:p>
          <a:p>
            <a:pPr algn="ctr">
              <a:spcAft>
                <a:spcPts val="400"/>
              </a:spcAft>
              <a:defRPr sz="18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钱富安  2312190501  |  王林峰  2312190519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2026年6月</a:t>
            </a:r>
            <a:r>
              <a:rPr lang="en-US"/>
              <a:t>17</a:t>
            </a:r>
            <a:r>
              <a:rPr lang="zh-CN" altLang="en-US"/>
              <a:t>日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2/13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>
            <p:custDataLst>
              <p:tags r:id="rId1"/>
            </p:custDataLst>
          </p:nvPr>
        </p:nvSpPr>
        <p:spPr>
          <a:xfrm>
            <a:off x="1371600" y="1463040"/>
            <a:ext cx="640080" cy="640080"/>
          </a:xfrm>
          <a:prstGeom prst="ellipse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2286000" y="14813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项目背景与目标</a:t>
            </a: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2286000" y="1847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系统定位、用户群体、业务价值</a:t>
            </a:r>
          </a:p>
        </p:txBody>
      </p:sp>
      <p:sp>
        <p:nvSpPr>
          <p:cNvPr id="9" name="Oval 8"/>
          <p:cNvSpPr/>
          <p:nvPr>
            <p:custDataLst>
              <p:tags r:id="rId4"/>
            </p:custDataLst>
          </p:nvPr>
        </p:nvSpPr>
        <p:spPr>
          <a:xfrm>
            <a:off x="1371600" y="2468880"/>
            <a:ext cx="640080" cy="640080"/>
          </a:xfrm>
          <a:prstGeom prst="ellipse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2286000" y="2487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系统整体架构</a:t>
            </a: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2286000" y="28529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技术选型、分层设计、部署架构</a:t>
            </a:r>
          </a:p>
        </p:txBody>
      </p:sp>
      <p:sp>
        <p:nvSpPr>
          <p:cNvPr id="12" name="Oval 11"/>
          <p:cNvSpPr/>
          <p:nvPr>
            <p:custDataLst>
              <p:tags r:id="rId7"/>
            </p:custDataLst>
          </p:nvPr>
        </p:nvSpPr>
        <p:spPr>
          <a:xfrm>
            <a:off x="1371600" y="3474720"/>
            <a:ext cx="640080" cy="640080"/>
          </a:xfrm>
          <a:prstGeom prst="ellipse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2286000" y="34930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核心功能模块</a:t>
            </a: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2286000" y="38587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资产管理、合同审批、缴费引擎、报修调度</a:t>
            </a:r>
          </a:p>
        </p:txBody>
      </p:sp>
      <p:sp>
        <p:nvSpPr>
          <p:cNvPr id="15" name="Oval 14"/>
          <p:cNvSpPr/>
          <p:nvPr>
            <p:custDataLst>
              <p:tags r:id="rId10"/>
            </p:custDataLst>
          </p:nvPr>
        </p:nvSpPr>
        <p:spPr>
          <a:xfrm>
            <a:off x="1371600" y="4480560"/>
            <a:ext cx="640080" cy="640080"/>
          </a:xfrm>
          <a:prstGeom prst="ellipse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2286000" y="44988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缴费业务重构（重点）</a:t>
            </a: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2286000" y="48646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账单→支付→核销完整链路、物业费调价机制</a:t>
            </a:r>
          </a:p>
        </p:txBody>
      </p:sp>
      <p:sp>
        <p:nvSpPr>
          <p:cNvPr id="18" name="Oval 17"/>
          <p:cNvSpPr/>
          <p:nvPr>
            <p:custDataLst>
              <p:tags r:id="rId13"/>
            </p:custDataLst>
          </p:nvPr>
        </p:nvSpPr>
        <p:spPr>
          <a:xfrm>
            <a:off x="1371600" y="5486400"/>
            <a:ext cx="640080" cy="640080"/>
          </a:xfrm>
          <a:prstGeom prst="ellipse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>
            <p:custDataLst>
              <p:tags r:id="rId14"/>
            </p:custDataLst>
          </p:nvPr>
        </p:nvSpPr>
        <p:spPr>
          <a:xfrm>
            <a:off x="2286000" y="55046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项目成果与总结</a:t>
            </a:r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2286000" y="58704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功能交付、CI/CD、测试覆盖、文档体系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  项目背景与目标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3/13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传统物业管理依赖人工催缴、纸质工单，效率低、易出错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305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业主缴费需到物业中心排队，报修/投诉反馈周期长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865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物业公司缺乏数字化手段进行财务核算与工单调度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426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社区公告与通知无法精准触达业主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530352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项目目标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构建前后端分离的智慧物业管理系统，覆盖PC管理端与移动端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99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实现资产→合同→账单→支付→核销全链路数字化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55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提供自动化费用计算、在线支付、一键核销等核心能力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11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支持报修调度、投诉处理、公告发布等社区服务场景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371600"/>
            <a:ext cx="5303520" cy="4663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目标用户群体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03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🏢  物业管理员 (PC管理端)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4688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资产监管 — 楼栋/单元/房间树形管理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财务核算 — 账单生成、支付核销、财务报表导出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工单调度 — 报修派发、投诉处理、状态跟踪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运营看板 — 实时统计待收费/欠费/投诉/报修数据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114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👤  社区住户 (移动端)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4805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账单查询与在线缴费 — 多账单合并支付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一键报修 — 名下房屋选择 + 进度实时跟踪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投诉建议提交与处理结果查看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资产购买/租赁申请、社区公告阅读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 系统整体架构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4/13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371600"/>
            <a:ext cx="9966960" cy="82296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1371600" y="141732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展示层 (Presentation)</a:t>
            </a: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371600" y="1755648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FF"/>
                </a:solidFill>
                <a:latin typeface="微软雅黑" panose="020B0503020204020204" charset="-122"/>
              </a:defRPr>
            </a:pPr>
            <a:r>
              <a:t>PC 管理端 (Vue 3 + Element Plus)      移动端业主端 (Vue 3 + Vant 4)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468880"/>
            <a:ext cx="9966960" cy="822960"/>
          </a:xfrm>
          <a:prstGeom prst="rect">
            <a:avLst/>
          </a:prstGeom>
          <a:solidFill>
            <a:srgbClr val="0D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1371600" y="251460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网关层 (Gateway)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1371600" y="2852928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FF"/>
                </a:solidFill>
                <a:latin typeface="微软雅黑" panose="020B0503020204020204" charset="-122"/>
              </a:defRPr>
            </a:pPr>
            <a:r>
              <a:t>Nginx 反向代理  →  API 前缀 /api/v1  →  统一路由分发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566160"/>
            <a:ext cx="9966960" cy="82296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1371600" y="361188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业务层 (Business)</a:t>
            </a:r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1371600" y="3950208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FF"/>
                </a:solidFill>
                <a:latin typeface="微软雅黑" panose="020B0503020204020204" charset="-122"/>
              </a:defRPr>
            </a:pPr>
            <a:r>
              <a:t>Spring Boot 3.2 + Spring Security + JWT + MyBatis-Plus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663440"/>
            <a:ext cx="9966960" cy="822960"/>
          </a:xfrm>
          <a:prstGeom prst="rect">
            <a:avLst/>
          </a:prstGeom>
          <a:solidFill>
            <a:srgbClr val="0D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7"/>
            </p:custDataLst>
          </p:nvPr>
        </p:nvSpPr>
        <p:spPr>
          <a:xfrm>
            <a:off x="1371600" y="470916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数据层 (Data)</a:t>
            </a:r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1371600" y="5047488"/>
            <a:ext cx="941832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FF"/>
                </a:solidFill>
                <a:latin typeface="微软雅黑" panose="020B0503020204020204" charset="-122"/>
              </a:defRPr>
            </a:pPr>
            <a:r>
              <a:t>MySQL 8.4 (14张核心表)  +  文件存储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52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后端 Maven 多模块:  wisdom-common (工具/异常/枚举)  →  wisdom-pojo (Entity/DTO/VO)  →  wisdom-server (Controller/Service/Mapper)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 技术选型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5/13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56616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前端技术栈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Vue 3 + Composition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305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TypeScript (严格模式，禁止 any)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865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Vite 5 — 极速构建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426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Element Plus / Vant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986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Pinia 状态管理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ECharts 数据可视化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5661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371600"/>
            <a:ext cx="356616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后端技术栈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874520"/>
            <a:ext cx="31089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Java 13 + Spring Boot 3.2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1305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MyBatis-Plus 3.5 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3865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Spring Security + JWT 无状态认证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6426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Knife4j (Swagger 3) API文档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8986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Lombok 代码简化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JUnit 5 + Mockito 测试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371600"/>
            <a:ext cx="35661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371600"/>
            <a:ext cx="356616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基础设施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1874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MySQL 8.4 关系数据库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1305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Docker + Docker Compose 容器化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3865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Nginx 反向代理 + 静态资源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6426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GitHub Actions CI/CD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8986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Gitleaks 密钥扫描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Codecov 测试覆盖率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 </a:t>
            </a:r>
            <a:r>
              <a:rPr lang="en-US"/>
              <a:t>API</a:t>
            </a:r>
            <a:r>
              <a:rPr lang="zh-CN" altLang="en-US"/>
              <a:t>设计</a:t>
            </a:r>
            <a:r>
              <a:rPr lang="en-US" altLang="zh-CN"/>
              <a:t>-UI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6/13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92640" y="1463040"/>
            <a:ext cx="21945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文本框 93"/>
          <p:cNvSpPr txBox="1"/>
          <p:nvPr/>
        </p:nvSpPr>
        <p:spPr>
          <a:xfrm>
            <a:off x="688340" y="1304925"/>
            <a:ext cx="406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后端</a:t>
            </a:r>
            <a:r>
              <a:rPr lang="en-US" altLang="zh-CN"/>
              <a:t>API</a:t>
            </a:r>
            <a:endParaRPr lang="en-US" altLang="zh-CN"/>
          </a:p>
        </p:txBody>
      </p:sp>
      <p:pic>
        <p:nvPicPr>
          <p:cNvPr id="95" name="图片 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05" y="1673225"/>
            <a:ext cx="4392930" cy="4129405"/>
          </a:xfrm>
          <a:prstGeom prst="rect">
            <a:avLst/>
          </a:prstGeom>
        </p:spPr>
      </p:pic>
      <p:sp>
        <p:nvSpPr>
          <p:cNvPr id="96" name="文本框 95"/>
          <p:cNvSpPr txBox="1"/>
          <p:nvPr/>
        </p:nvSpPr>
        <p:spPr>
          <a:xfrm>
            <a:off x="4957445" y="1304925"/>
            <a:ext cx="406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前端</a:t>
            </a:r>
            <a:r>
              <a:rPr lang="en-US" altLang="zh-CN"/>
              <a:t>API</a:t>
            </a:r>
            <a:endParaRPr lang="en-US" altLang="zh-CN"/>
          </a:p>
        </p:txBody>
      </p:sp>
      <p:pic>
        <p:nvPicPr>
          <p:cNvPr id="97" name="图片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070" y="1673225"/>
            <a:ext cx="6390005" cy="1830070"/>
          </a:xfrm>
          <a:prstGeom prst="rect">
            <a:avLst/>
          </a:prstGeom>
        </p:spPr>
      </p:pic>
      <p:sp>
        <p:nvSpPr>
          <p:cNvPr id="98" name="文本框 97"/>
          <p:cNvSpPr txBox="1"/>
          <p:nvPr/>
        </p:nvSpPr>
        <p:spPr>
          <a:xfrm>
            <a:off x="4957445" y="3689350"/>
            <a:ext cx="406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UI</a:t>
            </a:r>
            <a:r>
              <a:rPr lang="zh-CN" altLang="en-US"/>
              <a:t>设计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595" y="4170680"/>
            <a:ext cx="7005320" cy="1122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 数据库设计 — 14张核心表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rPr lang="en-US"/>
              <a:t>7</a:t>
            </a:r>
            <a:r>
              <a:t>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1945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19456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权限与用户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sys_user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sys_role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78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94360" y="273405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RBAC 角色权限模型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90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Bcrypt 密码加密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46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JWT Token 认证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463040"/>
            <a:ext cx="21945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80" y="1463040"/>
            <a:ext cx="219456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资产与合同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bus_house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bus_contract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478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bus_purchase_application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73405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2926080" y="2990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树形资产结构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246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合同生命周期管理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502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购买/租赁申请审批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1463040"/>
            <a:ext cx="21945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1463040"/>
            <a:ext cx="2194560" cy="54864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6C6C"/>
                </a:solidFill>
                <a:latin typeface="微软雅黑" panose="020B0503020204020204" charset="-122"/>
              </a:defRPr>
            </a:pPr>
            <a:r>
              <a:t>财务与计费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bus_bill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bus_payment_record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2477770"/>
            <a:ext cx="2030730" cy="2463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bus_payment_record_bill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2734310"/>
            <a:ext cx="2080895" cy="264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bus_property_fee_c</a:t>
            </a:r>
            <a:r>
              <a:rPr lang="en-US"/>
              <a:t>o</a:t>
            </a:r>
            <a:r>
              <a:t>nfig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3246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账单生成引擎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3502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多账单合并支付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37581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核销/撤销流程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40142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物业费调价机制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1463040"/>
            <a:ext cx="21945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60920" y="1463040"/>
            <a:ext cx="219456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服务模块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bus_repair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bus_complaint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2478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7589520" y="273405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报修工单调度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2990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投诉处理跟踪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92640" y="1463040"/>
            <a:ext cx="21945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92640" y="1463040"/>
            <a:ext cx="219456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系统模块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sys_notice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21240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sys_file_task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2478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51" name="TextBox 50"/>
          <p:cNvSpPr txBox="1"/>
          <p:nvPr/>
        </p:nvSpPr>
        <p:spPr>
          <a:xfrm>
            <a:off x="9921240" y="273405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公告推送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21240" y="2990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数据导入导出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212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核心数据流:  sys_user → bus_house → bus_contract → bus_bill → bus_payment_record_bill → bus_payment_record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设计原则:  金额统一 DECIMAL(12,2)  |  状态统一 TINYINT + 枚举  |  每表含 create_time + update_time  |  主键统一 BIGINT 自增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 核心功能模块总览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rPr lang="en-US"/>
              <a:t>8</a:t>
            </a:r>
            <a:r>
              <a:t>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56616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📊 运营看板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356616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🏠 资产管理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56616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📋 合同管理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931920"/>
            <a:ext cx="3566160" cy="54864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6C6C"/>
                </a:solidFill>
                <a:latin typeface="微软雅黑" panose="020B0503020204020204" charset="-122"/>
              </a:defRPr>
            </a:pPr>
            <a:r>
              <a:t>💰 缴费引擎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93192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3931920"/>
            <a:ext cx="356616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🔧 报修调度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93192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3931920"/>
            <a:ext cx="356616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📢 公告与投诉</a:t>
            </a: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41500"/>
            <a:ext cx="3467100" cy="183007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37690"/>
            <a:ext cx="3358515" cy="182562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73250"/>
            <a:ext cx="3414395" cy="178371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20" y="4434840"/>
            <a:ext cx="3461385" cy="180467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428490"/>
            <a:ext cx="3449955" cy="178943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428490"/>
            <a:ext cx="3490595" cy="18141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 缴费业务重构 — 完整业务链路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rPr lang="en-US"/>
              <a:t>9</a:t>
            </a:r>
            <a:r>
              <a:t>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核心链路:  合同 → 生成账单 → 用户提交支付记录 → 管理员核销 → 更新账单状态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1554480" cy="45720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① 合同生效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688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租赁/购房合同</a:t>
            </a:r>
            <a:br/>
            <a:r>
              <a:t>审批通过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659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920240"/>
            <a:ext cx="1554480" cy="45720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② 生成账单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4688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自动生成租金/押金</a:t>
            </a:r>
            <a:br/>
            <a:r>
              <a:t>买房金额/物业费账单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659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920240"/>
            <a:ext cx="1554480" cy="45720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③ 用户缴费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688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选择多张账单</a:t>
            </a:r>
            <a:br/>
            <a:r>
              <a:t>全额支付+上传凭证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9659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1920240"/>
            <a:ext cx="1554480" cy="4572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④ 待核销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4688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支付记录status=0</a:t>
            </a:r>
            <a:br/>
            <a:r>
              <a:t>账单status=1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9659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1920240"/>
            <a:ext cx="1554480" cy="45720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⑤ 管理员核销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4688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确认到账→核销</a:t>
            </a:r>
            <a:br/>
            <a:r>
              <a:t>支付记录status=1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9659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920240"/>
            <a:ext cx="1554480" cy="45720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⑥ 已缴费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4688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账单status=2</a:t>
            </a:r>
            <a:br/>
            <a:r>
              <a:t>流程完成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19659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24160" y="1920240"/>
            <a:ext cx="1554480" cy="457200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⑦ 核销撤销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24688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支持撤销已核销记录</a:t>
            </a:r>
            <a:br/>
            <a:r>
              <a:t>账单回退至待缴费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57600"/>
            <a:ext cx="11247120" cy="2743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749039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关键业务规则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60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费用类型固定四种: 租金、买房金额、押金、物业费 — 枚举化管理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079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不允许部分缴费 — 用户支付金额必须等于所选账单合计金额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5546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一个支付记录可对应多张账单(多账单合并支付，bus_payment_record_bill 关联表)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0293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管理员核销后才更新账单为已缴费 — 用户提交后进入"待核销"中间状态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504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核销后允许撤销 — 撤销后账单回退为待缴费，操作记录完整保留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物业费调价从设置时的下一个月开始生效 — 历史账单金额不重新计算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 缴费状态流转 — 账单与支付记录联动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rPr lang="en-US"/>
              <a:t>10</a:t>
            </a:r>
            <a:r>
              <a:t>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📋 账单状态 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560320" cy="4114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待缴费 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7373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用户尚未提交缴费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2560320" cy="41148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待核销 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6517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用户已提交支付</a:t>
            </a:r>
            <a:br/>
            <a:r>
              <a:t>等待管理员确认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2560320" cy="41148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已缴费 (2)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5661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管理员已核销</a:t>
            </a:r>
            <a:br/>
            <a:r>
              <a:t>流程完成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80560"/>
            <a:ext cx="2560320" cy="4114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已撤销 (3)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44805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账单被撤销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94960"/>
            <a:ext cx="2560320" cy="411480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已作废 (4)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53949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账单不可继续缴纳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1965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880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794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212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6C6C"/>
                </a:solidFill>
                <a:latin typeface="微软雅黑" panose="020B0503020204020204" charset="-122"/>
              </a:defRPr>
            </a:pPr>
            <a:r>
              <a:t>← 撤销回退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280160"/>
            <a:ext cx="5029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A23C"/>
                </a:solidFill>
                <a:latin typeface="微软雅黑" panose="020B0503020204020204" charset="-122"/>
              </a:defRPr>
            </a:pPr>
            <a:r>
              <a:t>💳 支付记录状态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737360"/>
            <a:ext cx="2560320" cy="41148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待核销 (0)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7373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用户已提交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834640"/>
            <a:ext cx="2560320" cy="41148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已核销 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8346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管理员确认到账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931920"/>
            <a:ext cx="2560320" cy="411480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已驳回 (2)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9319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管理员驳回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029200"/>
            <a:ext cx="2560320" cy="4114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已撤销 (3)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50292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核销后撤销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848985"/>
            <a:ext cx="11064240" cy="7315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897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核销:  支付记录 (0→1) + 账单 (1→2)  同事务   |   撤销:  支付记录 (1→3) + 账单 (2→0)  同事务   |   驳回:  支付记录 (0→2) + 账单 (1→0)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 事务与数据一致性保障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</a:t>
            </a:r>
            <a:r>
              <a:rPr lang="en-US"/>
              <a:t>1</a:t>
            </a:r>
            <a:r>
              <a:t>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🔒  事务操作 ①  用户提交缴费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操作: 插入支付记录 + 插入支付明细 + 更新账单状态(0→1)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校验: 账单必须属于当前用户 | 账单状态=待缴费 | 支付金额=Σ账单金额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2257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幂等: 同一账单不能重复提交 | 不允许部分缴费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15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结果: 三操作同一事务，全部成功或全部回滚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🔒  事务操作 ②  管理员核销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操作: 更新支付记录状态(0→1) + 更新账单状态(1→2)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216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校验: 支付记录状态=待核销 | 管理员权限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142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结果: 支付记录和账单状态同时成功或同时失败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🔒  事务操作 ③  核销撤销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操作: 更新支付记录状态(1→3) + 更新账单状态(2→0)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132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校验: 支付记录状态=已核销 | 记录撤销人/时间/原因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0585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设计决策: 账单回退至待缴费(0)而非待核销(1)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980430"/>
            <a:ext cx="11247120" cy="45720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9898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所有涉及账单状态和支付记录状态联动变更的操作，均通过 @Transactional 保证事务一致性，严格校验前置状态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  CI/CD 与容器化部署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</a:t>
            </a:r>
            <a:r>
              <a:rPr lang="en-US"/>
              <a:t>2</a:t>
            </a:r>
            <a:r>
              <a:t>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Docker Compose 一键部署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4 个服务容器: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50292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- frontend (Nginx) — PC 管理端 :</a:t>
            </a:r>
            <a:r>
              <a:rPr lang="en-US"/>
              <a:t>5133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85800" y="2386584"/>
            <a:ext cx="50292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- mobile (Vite) — 移动端 :5134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426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- backend (Spring Boot) — API :8080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986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- db (MySQL 8.4) — 数据库 :3306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371600"/>
            <a:ext cx="5212080" cy="18840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371600"/>
            <a:ext cx="539496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CI/CD 流水线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874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ci.yml — Push/PR 触发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- 后端: 89个测试 (JUnit 5 + Mockito)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3865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- 前端: ESLint + vue-tsc 严格类型检查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64299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CI 失败时自动邮件通知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96379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Codecov 测试覆盖率追踪</a:t>
            </a: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172460"/>
            <a:ext cx="5303520" cy="310578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670" y="3200400"/>
            <a:ext cx="1670050" cy="313563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310" y="4095115"/>
            <a:ext cx="38544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  项目成果总结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</a:t>
            </a:r>
            <a:r>
              <a:rPr lang="en-US"/>
              <a:t>3</a:t>
            </a:r>
            <a:r>
              <a:t>/1</a:t>
            </a:r>
            <a:r>
              <a:rPr lang="en-US"/>
              <a:t>3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645920" cy="1645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张数据库</a:t>
            </a:r>
            <a:br/>
            <a:r>
              <a:t>核心表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371600"/>
            <a:ext cx="1645920" cy="1645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508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057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个后端</a:t>
            </a:r>
            <a:br/>
            <a:r>
              <a:t>单元测试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1645920" cy="1645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08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57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个 REST</a:t>
            </a:r>
            <a:br/>
            <a:r>
              <a:t>API 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1645920" cy="1645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08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端覆盖</a:t>
            </a:r>
            <a:br/>
            <a:r>
              <a:t>PC + 移动端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1645920" cy="1645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57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大功能</a:t>
            </a:r>
            <a:br/>
            <a:r>
              <a:t>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1371600"/>
            <a:ext cx="1645920" cy="1645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508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2057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种账单</a:t>
            </a:r>
            <a:br/>
            <a:r>
              <a:t>状态流转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548640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291840"/>
            <a:ext cx="548640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29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技术亮点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794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★ 缴费业务重构: 账单→支付→核销完整业务链路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050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★ 多账单合并支付: payment_record_bill 关联表设计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3068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★ 物业费调价机制: 下月生效 + 历史金额不变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5628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★ 事务保障: 所有状态联动操作通过 @Transactional 保证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188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★ 数据权限隔离: ThreadLocal + 注解驱动的行级过滤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74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★ 双端架构: Vue3+Vite 共享后端 API，Nginx 统一代理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330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★ CI/CD 自动化: push→test→deploy 全自动流水线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291840"/>
            <a:ext cx="539496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291840"/>
            <a:ext cx="539496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 panose="020B0503020204020204" charset="-122"/>
              </a:defRPr>
            </a:pPr>
            <a:r>
              <a:t>文档体系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design-spec.md — 设计规范 (配色/页面/交互)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507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database.md — 14 张表完整 DDL + ER 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3068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api.md — 30+ API 接口定义 + 状态流转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5628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backend.md / frontend.md — 技术说明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8188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deployment.md — Docker + CI/CD 部署指南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5074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payment-feature-design.md — 缴费功能详细设计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53309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CLAUDE.md — AI 辅助开发规则文档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55869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Knife4j 在线文档: localhost:8080/doc.html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8.64,&quot;left&quot;:108,&quot;top&quot;:115.2,&quot;width&quot;:648}"/>
</p:tagLst>
</file>

<file path=ppt/tags/tag2.xml><?xml version="1.0" encoding="utf-8"?>
<p:tagLst xmlns:p="http://schemas.openxmlformats.org/presentationml/2006/main">
  <p:tag name="KSO_WM_DIAGRAM_VIRTUALLY_FRAME" val="{&quot;height&quot;:368.64,&quot;left&quot;:108,&quot;top&quot;:115.2,&quot;width&quot;:648}"/>
</p:tagLst>
</file>

<file path=ppt/tags/tag3.xml><?xml version="1.0" encoding="utf-8"?>
<p:tagLst xmlns:p="http://schemas.openxmlformats.org/presentationml/2006/main">
  <p:tag name="KSO_WM_DIAGRAM_VIRTUALLY_FRAME" val="{&quot;height&quot;:368.64,&quot;left&quot;:108,&quot;top&quot;:115.2,&quot;width&quot;:648}"/>
</p:tagLst>
</file>

<file path=ppt/tags/tag4.xml><?xml version="1.0" encoding="utf-8"?>
<p:tagLst xmlns:p="http://schemas.openxmlformats.org/presentationml/2006/main">
  <p:tag name="KSO_WM_DIAGRAM_VIRTUALLY_FRAME" val="{&quot;height&quot;:368.64,&quot;left&quot;:108,&quot;top&quot;:115.2,&quot;width&quot;:648}"/>
</p:tagLst>
</file>

<file path=ppt/tags/tag5.xml><?xml version="1.0" encoding="utf-8"?>
<p:tagLst xmlns:p="http://schemas.openxmlformats.org/presentationml/2006/main">
  <p:tag name="KSO_WM_DIAGRAM_VIRTUALLY_FRAME" val="{&quot;height&quot;:368.64,&quot;left&quot;:108,&quot;top&quot;:115.2,&quot;width&quot;:648}"/>
</p:tagLst>
</file>

<file path=ppt/tags/tag6.xml><?xml version="1.0" encoding="utf-8"?>
<p:tagLst xmlns:p="http://schemas.openxmlformats.org/presentationml/2006/main">
  <p:tag name="KSO_WM_DIAGRAM_VIRTUALLY_FRAME" val="{&quot;height&quot;:368.64,&quot;left&quot;:108,&quot;top&quot;:115.2,&quot;width&quot;:648}"/>
</p:tagLst>
</file>

<file path=ppt/tags/tag7.xml><?xml version="1.0" encoding="utf-8"?>
<p:tagLst xmlns:p="http://schemas.openxmlformats.org/presentationml/2006/main">
  <p:tag name="KSO_WM_DIAGRAM_VIRTUALLY_FRAME" val="{&quot;height&quot;:368.64,&quot;left&quot;:108,&quot;top&quot;:115.2,&quot;width&quot;:648}"/>
</p:tagLst>
</file>

<file path=ppt/tags/tag8.xml><?xml version="1.0" encoding="utf-8"?>
<p:tagLst xmlns:p="http://schemas.openxmlformats.org/presentationml/2006/main">
  <p:tag name="KSO_WM_DIAGRAM_VIRTUALLY_FRAME" val="{&quot;height&quot;:368.64,&quot;left&quot;:108,&quot;top&quot;:115.2,&quot;width&quot;:648}"/>
</p:tagLst>
</file>

<file path=ppt/tags/tag9.xml><?xml version="1.0" encoding="utf-8"?>
<p:tagLst xmlns:p="http://schemas.openxmlformats.org/presentationml/2006/main">
  <p:tag name="KSO_WM_DIAGRAM_VIRTUALLY_FRAME" val="{&quot;height&quot;:368.64,&quot;left&quot;:108,&quot;top&quot;:115.2,&quot;width&quot;:648}"/>
</p:tagLst>
</file>

<file path=ppt/tags/tag10.xml><?xml version="1.0" encoding="utf-8"?>
<p:tagLst xmlns:p="http://schemas.openxmlformats.org/presentationml/2006/main">
  <p:tag name="KSO_WM_DIAGRAM_VIRTUALLY_FRAME" val="{&quot;height&quot;:368.64,&quot;left&quot;:108,&quot;top&quot;:115.2,&quot;width&quot;:648}"/>
</p:tagLst>
</file>

<file path=ppt/tags/tag11.xml><?xml version="1.0" encoding="utf-8"?>
<p:tagLst xmlns:p="http://schemas.openxmlformats.org/presentationml/2006/main">
  <p:tag name="KSO_WM_DIAGRAM_VIRTUALLY_FRAME" val="{&quot;height&quot;:368.64,&quot;left&quot;:108,&quot;top&quot;:115.2,&quot;width&quot;:648}"/>
</p:tagLst>
</file>

<file path=ppt/tags/tag12.xml><?xml version="1.0" encoding="utf-8"?>
<p:tagLst xmlns:p="http://schemas.openxmlformats.org/presentationml/2006/main">
  <p:tag name="KSO_WM_DIAGRAM_VIRTUALLY_FRAME" val="{&quot;height&quot;:368.64,&quot;left&quot;:108,&quot;top&quot;:115.2,&quot;width&quot;:648}"/>
</p:tagLst>
</file>

<file path=ppt/tags/tag13.xml><?xml version="1.0" encoding="utf-8"?>
<p:tagLst xmlns:p="http://schemas.openxmlformats.org/presentationml/2006/main">
  <p:tag name="KSO_WM_DIAGRAM_VIRTUALLY_FRAME" val="{&quot;height&quot;:368.64,&quot;left&quot;:108,&quot;top&quot;:115.2,&quot;width&quot;:648}"/>
</p:tagLst>
</file>

<file path=ppt/tags/tag14.xml><?xml version="1.0" encoding="utf-8"?>
<p:tagLst xmlns:p="http://schemas.openxmlformats.org/presentationml/2006/main">
  <p:tag name="KSO_WM_DIAGRAM_VIRTUALLY_FRAME" val="{&quot;height&quot;:368.64,&quot;left&quot;:108,&quot;top&quot;:115.2,&quot;width&quot;:648}"/>
</p:tagLst>
</file>

<file path=ppt/tags/tag15.xml><?xml version="1.0" encoding="utf-8"?>
<p:tagLst xmlns:p="http://schemas.openxmlformats.org/presentationml/2006/main">
  <p:tag name="KSO_WM_DIAGRAM_VIRTUALLY_FRAME" val="{&quot;height&quot;:368.64,&quot;left&quot;:108,&quot;top&quot;:115.2,&quot;width&quot;:648}"/>
</p:tagLst>
</file>

<file path=ppt/tags/tag16.xml><?xml version="1.0" encoding="utf-8"?>
<p:tagLst xmlns:p="http://schemas.openxmlformats.org/presentationml/2006/main">
  <p:tag name="KSO_WM_DIAGRAM_VIRTUALLY_FRAME" val="{&quot;height&quot;:311.03999999999996,&quot;left&quot;:108,&quot;top&quot;:111.6,&quot;width&quot;:741.6}"/>
</p:tagLst>
</file>

<file path=ppt/tags/tag17.xml><?xml version="1.0" encoding="utf-8"?>
<p:tagLst xmlns:p="http://schemas.openxmlformats.org/presentationml/2006/main">
  <p:tag name="KSO_WM_DIAGRAM_VIRTUALLY_FRAME" val="{&quot;height&quot;:311.03999999999996,&quot;left&quot;:108,&quot;top&quot;:111.6,&quot;width&quot;:741.6}"/>
</p:tagLst>
</file>

<file path=ppt/tags/tag18.xml><?xml version="1.0" encoding="utf-8"?>
<p:tagLst xmlns:p="http://schemas.openxmlformats.org/presentationml/2006/main">
  <p:tag name="KSO_WM_DIAGRAM_VIRTUALLY_FRAME" val="{&quot;height&quot;:311.03999999999996,&quot;left&quot;:108,&quot;top&quot;:111.6,&quot;width&quot;:741.6}"/>
</p:tagLst>
</file>

<file path=ppt/tags/tag19.xml><?xml version="1.0" encoding="utf-8"?>
<p:tagLst xmlns:p="http://schemas.openxmlformats.org/presentationml/2006/main">
  <p:tag name="KSO_WM_DIAGRAM_VIRTUALLY_FRAME" val="{&quot;height&quot;:311.03999999999996,&quot;left&quot;:108,&quot;top&quot;:111.6,&quot;width&quot;:741.6}"/>
</p:tagLst>
</file>

<file path=ppt/tags/tag20.xml><?xml version="1.0" encoding="utf-8"?>
<p:tagLst xmlns:p="http://schemas.openxmlformats.org/presentationml/2006/main">
  <p:tag name="KSO_WM_DIAGRAM_VIRTUALLY_FRAME" val="{&quot;height&quot;:311.03999999999996,&quot;left&quot;:108,&quot;top&quot;:111.6,&quot;width&quot;:741.6}"/>
</p:tagLst>
</file>

<file path=ppt/tags/tag21.xml><?xml version="1.0" encoding="utf-8"?>
<p:tagLst xmlns:p="http://schemas.openxmlformats.org/presentationml/2006/main">
  <p:tag name="KSO_WM_DIAGRAM_VIRTUALLY_FRAME" val="{&quot;height&quot;:311.03999999999996,&quot;left&quot;:108,&quot;top&quot;:111.6,&quot;width&quot;:741.6}"/>
</p:tagLst>
</file>

<file path=ppt/tags/tag22.xml><?xml version="1.0" encoding="utf-8"?>
<p:tagLst xmlns:p="http://schemas.openxmlformats.org/presentationml/2006/main">
  <p:tag name="KSO_WM_DIAGRAM_VIRTUALLY_FRAME" val="{&quot;height&quot;:311.03999999999996,&quot;left&quot;:108,&quot;top&quot;:111.6,&quot;width&quot;:741.6}"/>
</p:tagLst>
</file>

<file path=ppt/tags/tag23.xml><?xml version="1.0" encoding="utf-8"?>
<p:tagLst xmlns:p="http://schemas.openxmlformats.org/presentationml/2006/main">
  <p:tag name="KSO_WM_DIAGRAM_VIRTUALLY_FRAME" val="{&quot;height&quot;:311.03999999999996,&quot;left&quot;:108,&quot;top&quot;:111.6,&quot;width&quot;:741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4064</Words>
  <Application>WPS 演示</Application>
  <PresentationFormat>On-screen Show (4:3)</PresentationFormat>
  <Paragraphs>485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　</cp:lastModifiedBy>
  <cp:revision>7</cp:revision>
  <dcterms:created xsi:type="dcterms:W3CDTF">2013-01-27T09:14:00Z</dcterms:created>
  <dcterms:modified xsi:type="dcterms:W3CDTF">2026-06-27T07:16:55Z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4B1C351C67E74415B6A95097753783EC_12</vt:lpwstr>
  </property>
  <property fmtid="{D5CDD505-2E9C-101B-9397-08002B2CF9AE}" pid="3" name="KSOProductBuildVer">
    <vt:lpwstr>2052-12.1.0.21915</vt:lpwstr>
  </property>
</Properties>
</file>